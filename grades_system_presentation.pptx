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1" r:id="rId7"/>
    <p:sldId id="262" r:id="rId8"/>
    <p:sldId id="263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7754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1F815-8DF9-0F7A-A8D6-A86A2E9B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BFCCFC-8738-7026-AC58-77DADC7E8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826B7-C3A2-DC8B-9E78-0CD24691E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E406-4EDC-6DE5-73F0-A92C487B75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679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3200400"/>
            <a:ext cx="1828800" cy="18288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572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b="1" dirty="0">
                <a:solidFill>
                  <a:srgbClr val="FFFFFF"/>
                </a:solidFill>
              </a:rPr>
              <a:t>ЛАБОРАТОРНАЯ РАБОТА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0058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учёта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успеваемости студентов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47548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</a:rPr>
              <a:t>Предмет: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0F4F8"/>
                </a:solidFill>
              </a:rPr>
              <a:t>Языки и методы программирования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3649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</a:rPr>
              <a:t>Группа: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0F4F8"/>
                </a:solidFill>
              </a:rPr>
              <a:t>25 ПМ-1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4480560"/>
            <a:ext cx="1005840" cy="347472"/>
          </a:xfrm>
          <a:prstGeom prst="rect">
            <a:avLst/>
          </a:prstGeom>
          <a:solidFill>
            <a:srgbClr val="24345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4480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</a:rPr>
              <a:t>C++17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0" y="4480560"/>
            <a:ext cx="1005840" cy="347472"/>
          </a:xfrm>
          <a:prstGeom prst="rect">
            <a:avLst/>
          </a:prstGeom>
          <a:solidFill>
            <a:srgbClr val="24345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4480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</a:rPr>
              <a:t>PostgreSQL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55280" y="4480560"/>
            <a:ext cx="1005840" cy="347472"/>
          </a:xfrm>
          <a:prstGeom prst="rect">
            <a:avLst/>
          </a:prstGeom>
          <a:solidFill>
            <a:srgbClr val="24345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4480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</a:rPr>
              <a:t>libpqxx</a:t>
            </a:r>
            <a:endParaRPr lang="en-US" sz="10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B331CFB0-74A3-4038-6DC9-7CF269F5F1CE}"/>
              </a:ext>
            </a:extLst>
          </p:cNvPr>
          <p:cNvSpPr/>
          <p:nvPr/>
        </p:nvSpPr>
        <p:spPr>
          <a:xfrm>
            <a:off x="502920" y="371246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5EEAD4"/>
                </a:solidFill>
              </a:rPr>
              <a:t>Выполнили</a:t>
            </a:r>
            <a:r>
              <a:rPr lang="en-US" sz="1300" b="1" dirty="0">
                <a:solidFill>
                  <a:srgbClr val="5EEAD4"/>
                </a:solidFill>
              </a:rPr>
              <a:t>:</a:t>
            </a:r>
            <a:endParaRPr lang="en-US" sz="13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B7F45BCF-AAD9-453B-E81F-536917E6F030}"/>
              </a:ext>
            </a:extLst>
          </p:cNvPr>
          <p:cNvSpPr/>
          <p:nvPr/>
        </p:nvSpPr>
        <p:spPr>
          <a:xfrm>
            <a:off x="2103120" y="371246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300" dirty="0">
                <a:solidFill>
                  <a:srgbClr val="F0F4F8"/>
                </a:solidFill>
              </a:rPr>
              <a:t>Тузов Лев, Батурин Илья, Горохова Екатерина,</a:t>
            </a:r>
            <a:br>
              <a:rPr lang="ru-RU" sz="1300" dirty="0">
                <a:solidFill>
                  <a:srgbClr val="F0F4F8"/>
                </a:solidFill>
              </a:rPr>
            </a:br>
            <a:r>
              <a:rPr lang="ru-RU" sz="1400" dirty="0">
                <a:solidFill>
                  <a:srgbClr val="F0F4F8"/>
                </a:solidFill>
              </a:rPr>
              <a:t>Марков Михаил, Кузнецов Артём</a:t>
            </a:r>
            <a:endParaRPr lang="en-US" sz="13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B508B0-7E5B-C0CE-0001-27E1E8B16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6794" y="3209544"/>
            <a:ext cx="872522" cy="92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400">
        <p14:honeycomb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Постановка задачи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51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Разработать консольное приложение с тремя режимами работы: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60020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60020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</a:rPr>
              <a:t>👤 Студент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Авторизация по логину и паролю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8163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Просмотр своих оценок по предметам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649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600200"/>
            <a:ext cx="27432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</a:rPr>
              <a:t>📋 Преподаватель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Авторизация по логину и паролю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8163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Выбор студента из группы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33649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Выставление оценок (2–5)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600200"/>
            <a:ext cx="274320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</a:rPr>
              <a:t>⚙️ Администратор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3640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Аутентификация через секретный ключ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63640" y="28163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Добавление/удаление пользователей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33649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</a:rPr>
              <a:t>Полный</a:t>
            </a:r>
            <a:r>
              <a:rPr lang="en-US" sz="1200" dirty="0">
                <a:solidFill>
                  <a:srgbClr val="1E293B"/>
                </a:solidFill>
              </a:rPr>
              <a:t> </a:t>
            </a:r>
            <a:r>
              <a:rPr lang="ru-RU" sz="1200" dirty="0">
                <a:solidFill>
                  <a:srgbClr val="1E293B"/>
                </a:solidFill>
              </a:rPr>
              <a:t>контроль</a:t>
            </a:r>
            <a:r>
              <a:rPr lang="en-US" sz="1200" dirty="0">
                <a:solidFill>
                  <a:srgbClr val="1E293B"/>
                </a:solidFill>
              </a:rPr>
              <a:t> над данными</a:t>
            </a:r>
            <a:endParaRPr lang="en-US" sz="1200" dirty="0"/>
          </a:p>
        </p:txBody>
      </p: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7EFBB12A-87D1-B98F-9301-7644B711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3487791"/>
            <a:ext cx="779754" cy="1034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Архитектура проекта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1430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ru-RU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73152" cy="1600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527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</a:rPr>
              <a:t>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 err="1">
                <a:solidFill>
                  <a:srgbClr val="64748B"/>
                </a:solidFill>
              </a:rPr>
              <a:t>database.h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Подключение к PostgreSQL через libpqxx. Проверка логинов и паролей. Получение ID пользователей. Выполнение SQL-запросов.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73152" cy="1600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2527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</a:rPr>
              <a:t>StudentMode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92040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student.cpp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801368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Авторизация студента. Формирование и выполнение запроса на получение оценок. Вывод таблицы с результатами.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8600" y="29718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8600" y="2971800"/>
            <a:ext cx="73152" cy="1600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815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</a:rPr>
              <a:t>PrepodMode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" y="3355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prepod.cpp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" y="3630168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Авторизация преподавателя. Отображение списка студентов группы. Выбор студента и вставка оценки в grades.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9718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971800"/>
            <a:ext cx="73152" cy="16002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30815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</a:rPr>
              <a:t>AdminMode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92040" y="3355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admin.cpp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630168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Аутентификация по секретному ключу (.env). CRUD-операции над students и teachers. Управление пользователями.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b="1" dirty="0">
                <a:solidFill>
                  <a:srgbClr val="FFFFFF"/>
                </a:solidFill>
              </a:rPr>
              <a:t>Диаграмма классов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97280"/>
            <a:ext cx="8503920" cy="356616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32120" y="1097280"/>
            <a:ext cx="3291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300" i="1" dirty="0">
                <a:solidFill>
                  <a:srgbClr val="64748B"/>
                </a:solidFill>
              </a:rPr>
              <a:t>Основной класс </a:t>
            </a:r>
            <a:r>
              <a:rPr lang="en-US" sz="1300" i="1" dirty="0">
                <a:solidFill>
                  <a:srgbClr val="64748B"/>
                </a:solidFill>
              </a:rPr>
              <a:t>Database,</a:t>
            </a:r>
            <a:r>
              <a:rPr lang="ru-RU" sz="1300" i="1" dirty="0">
                <a:solidFill>
                  <a:srgbClr val="64748B"/>
                </a:solidFill>
              </a:rPr>
              <a:t> с помощью которого происходит взаимодействие и запись в базу данных.</a:t>
            </a:r>
            <a:br>
              <a:rPr lang="ru-RU" sz="1300" i="1" dirty="0">
                <a:solidFill>
                  <a:srgbClr val="64748B"/>
                </a:solidFill>
              </a:rPr>
            </a:br>
            <a:br>
              <a:rPr lang="ru-RU" sz="1300" i="1" dirty="0">
                <a:solidFill>
                  <a:srgbClr val="64748B"/>
                </a:solidFill>
              </a:rPr>
            </a:br>
            <a:r>
              <a:rPr lang="ru-RU" sz="1300" i="1" dirty="0">
                <a:solidFill>
                  <a:srgbClr val="64748B"/>
                </a:solidFill>
              </a:rPr>
              <a:t>А также три класса</a:t>
            </a:r>
            <a:r>
              <a:rPr lang="en-US" sz="1300" i="1" dirty="0">
                <a:solidFill>
                  <a:srgbClr val="64748B"/>
                </a:solidFill>
              </a:rPr>
              <a:t>: </a:t>
            </a:r>
            <a:r>
              <a:rPr lang="en-US" sz="1300" i="1" dirty="0" err="1">
                <a:solidFill>
                  <a:srgbClr val="64748B"/>
                </a:solidFill>
              </a:rPr>
              <a:t>StudentMode</a:t>
            </a:r>
            <a:r>
              <a:rPr lang="en-US" sz="1300" i="1" dirty="0">
                <a:solidFill>
                  <a:srgbClr val="64748B"/>
                </a:solidFill>
              </a:rPr>
              <a:t>, </a:t>
            </a:r>
            <a:r>
              <a:rPr lang="en-US" sz="1300" i="1" dirty="0" err="1">
                <a:solidFill>
                  <a:srgbClr val="64748B"/>
                </a:solidFill>
              </a:rPr>
              <a:t>PrepodMode</a:t>
            </a:r>
            <a:r>
              <a:rPr lang="en-US" sz="1300" i="1" dirty="0">
                <a:solidFill>
                  <a:srgbClr val="64748B"/>
                </a:solidFill>
              </a:rPr>
              <a:t>, </a:t>
            </a:r>
            <a:r>
              <a:rPr lang="en-US" sz="1300" i="1" dirty="0" err="1">
                <a:solidFill>
                  <a:srgbClr val="64748B"/>
                </a:solidFill>
              </a:rPr>
              <a:t>AdminMode</a:t>
            </a:r>
            <a:r>
              <a:rPr lang="ru-RU" sz="1300" i="1" dirty="0">
                <a:solidFill>
                  <a:srgbClr val="64748B"/>
                </a:solidFill>
              </a:rPr>
              <a:t>, осуществляющие 3 режима работы с БД</a:t>
            </a:r>
            <a:endParaRPr lang="en-US" sz="13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7FBC2E-DD21-CA70-F839-00102310C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5151120" cy="39213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E7261-56E3-24B3-2B5C-A94C54722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90BFF9-222E-731B-E76B-ADFFCCA9BB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6170EA-D6DC-4EA7-D39D-245459CAF3FD}"/>
              </a:ext>
            </a:extLst>
          </p:cNvPr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Диаграмма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ru-RU" sz="2600" b="1" dirty="0">
                <a:solidFill>
                  <a:srgbClr val="FFFFFF"/>
                </a:solidFill>
              </a:rPr>
              <a:t>взаимодействия юзера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ADB632-4548-EEB6-BD7B-3547B88E3B9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FA8C2694-FDC3-7C71-7D72-0DC7F3123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724" y="1285905"/>
            <a:ext cx="6036745" cy="3617842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DA870B50-2ABE-68E0-7475-E3892C5F7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600" y="1883664"/>
            <a:ext cx="1206248" cy="160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889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Скриншоты работы программы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97280"/>
            <a:ext cx="2743200" cy="2377440"/>
          </a:xfrm>
          <a:prstGeom prst="rect">
            <a:avLst/>
          </a:prstGeom>
          <a:solidFill>
            <a:srgbClr val="E8F4FD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27432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9728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BD5E1"/>
                </a:solidFill>
              </a:rPr>
              <a:t>[ Скриншот 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5493" y="4128398"/>
            <a:ext cx="2743200" cy="619447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5493" y="4128397"/>
            <a:ext cx="2743200" cy="31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Режим студента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5493" y="4421005"/>
            <a:ext cx="2743200" cy="326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Авторизация + таблица оценок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743200" cy="2377440"/>
          </a:xfrm>
          <a:prstGeom prst="rect">
            <a:avLst/>
          </a:prstGeom>
          <a:solidFill>
            <a:srgbClr val="E8F4FD"/>
          </a:solidFill>
          <a:ln w="12700">
            <a:solidFill>
              <a:srgbClr val="1D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097280"/>
            <a:ext cx="274320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09728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BD5E1"/>
                </a:solidFill>
              </a:rPr>
              <a:t>[ Скриншот ]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54680" y="4128867"/>
            <a:ext cx="2743200" cy="61897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54680" y="4128867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Режим преподавателя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54680" y="4421475"/>
            <a:ext cx="2743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Список группы + ввод оценки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1097280"/>
            <a:ext cx="2743200" cy="2377440"/>
          </a:xfrm>
          <a:prstGeom prst="rect">
            <a:avLst/>
          </a:prstGeom>
          <a:solidFill>
            <a:srgbClr val="E8F4F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097280"/>
            <a:ext cx="27432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09728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BD5E1"/>
                </a:solidFill>
              </a:rPr>
              <a:t>[ Скриншот ]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0760" y="4132384"/>
            <a:ext cx="2743200" cy="615461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4087953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Режим администратора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80760" y="4289238"/>
            <a:ext cx="2743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Меню CRUD + добавление пользователей</a:t>
            </a:r>
            <a:endParaRPr lang="en-US" sz="95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00DD1A25-CE3A-C3A7-7642-337DF7C34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4858" y="1084794"/>
            <a:ext cx="2759102" cy="2822332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8168EE3B-C19C-DC93-F165-8185D45989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084794"/>
            <a:ext cx="2790093" cy="241945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AB652E5-898C-6953-4DCE-1757447EE7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8778" y="1084794"/>
            <a:ext cx="2799340" cy="25777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Демонстрация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sql</a:t>
            </a:r>
            <a:r>
              <a:rPr lang="en-US" sz="2600" b="1" dirty="0">
                <a:solidFill>
                  <a:srgbClr val="FFFFFF"/>
                </a:solidFill>
              </a:rPr>
              <a:t>-</a:t>
            </a:r>
            <a:r>
              <a:rPr lang="ru-RU" sz="2600" b="1" dirty="0">
                <a:solidFill>
                  <a:srgbClr val="FFFFFF"/>
                </a:solidFill>
              </a:rPr>
              <a:t>кода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51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0D9488"/>
                </a:solidFill>
              </a:rPr>
              <a:t>Таблица учителей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2255819" cy="3520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1" y="1478041"/>
            <a:ext cx="216826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CREATE TABLE teachers (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id SERIAL PRIMARY KEY,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 err="1">
                <a:solidFill>
                  <a:schemeClr val="bg1"/>
                </a:solidFill>
              </a:rPr>
              <a:t>full_name</a:t>
            </a:r>
            <a:r>
              <a:rPr lang="en-US" sz="1000" dirty="0">
                <a:solidFill>
                  <a:schemeClr val="bg1"/>
                </a:solidFill>
              </a:rPr>
              <a:t> VARCHAR(100)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subject VARCHAR(100)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 err="1">
                <a:solidFill>
                  <a:schemeClr val="bg1"/>
                </a:solidFill>
              </a:rPr>
              <a:t>group_name</a:t>
            </a:r>
            <a:r>
              <a:rPr lang="en-US" sz="1000" dirty="0">
                <a:solidFill>
                  <a:schemeClr val="bg1"/>
                </a:solidFill>
              </a:rPr>
              <a:t> VARCHAR(50)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login VARCHAR(50) UNIQUE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password VARCHAR(100) NOT NULL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);</a:t>
            </a:r>
          </a:p>
        </p:txBody>
      </p:sp>
      <p:sp>
        <p:nvSpPr>
          <p:cNvPr id="8" name="Text 6"/>
          <p:cNvSpPr/>
          <p:nvPr/>
        </p:nvSpPr>
        <p:spPr>
          <a:xfrm>
            <a:off x="3299013" y="1075167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1D4ED8"/>
                </a:solidFill>
              </a:rPr>
              <a:t>Таблица студентов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9012" y="1440927"/>
            <a:ext cx="2075925" cy="3520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ru-RU" dirty="0"/>
          </a:p>
        </p:txBody>
      </p:sp>
      <p:sp>
        <p:nvSpPr>
          <p:cNvPr id="10" name="Text 8"/>
          <p:cNvSpPr/>
          <p:nvPr/>
        </p:nvSpPr>
        <p:spPr>
          <a:xfrm>
            <a:off x="2971802" y="1508760"/>
            <a:ext cx="3703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37BB279-980D-E6BD-A0C2-48FCADABF31B}"/>
              </a:ext>
            </a:extLst>
          </p:cNvPr>
          <p:cNvSpPr/>
          <p:nvPr/>
        </p:nvSpPr>
        <p:spPr>
          <a:xfrm>
            <a:off x="3344733" y="1506967"/>
            <a:ext cx="216826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CREATE TABLE students (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id SERIAL PRIMARY KEY,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 err="1">
                <a:solidFill>
                  <a:schemeClr val="bg1"/>
                </a:solidFill>
              </a:rPr>
              <a:t>full_name</a:t>
            </a:r>
            <a:r>
              <a:rPr lang="en-US" sz="1000" dirty="0">
                <a:solidFill>
                  <a:schemeClr val="bg1"/>
                </a:solidFill>
              </a:rPr>
              <a:t> VARCHAR(100)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 err="1">
                <a:solidFill>
                  <a:schemeClr val="bg1"/>
                </a:solidFill>
              </a:rPr>
              <a:t>group_name</a:t>
            </a:r>
            <a:r>
              <a:rPr lang="en-US" sz="1000" dirty="0">
                <a:solidFill>
                  <a:schemeClr val="bg1"/>
                </a:solidFill>
              </a:rPr>
              <a:t> VARCHAR(50)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login VARCHAR(50) UNIQUE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password VARCHAR(100) NOT NULL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);</a:t>
            </a: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64F0587-7661-5F8D-0569-70B4FCD3051A}"/>
              </a:ext>
            </a:extLst>
          </p:cNvPr>
          <p:cNvSpPr/>
          <p:nvPr/>
        </p:nvSpPr>
        <p:spPr>
          <a:xfrm>
            <a:off x="6186545" y="10698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1D4ED8"/>
                </a:solidFill>
              </a:rPr>
              <a:t>Таблица оценок</a:t>
            </a:r>
            <a:endParaRPr lang="en-US" sz="13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BA781904-9711-76BF-5292-D45C7360DA3B}"/>
              </a:ext>
            </a:extLst>
          </p:cNvPr>
          <p:cNvSpPr/>
          <p:nvPr/>
        </p:nvSpPr>
        <p:spPr>
          <a:xfrm>
            <a:off x="5785224" y="1435608"/>
            <a:ext cx="3038736" cy="3520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ru-RU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7ECEC211-84FC-8DB4-DC05-3E7E6E521B1C}"/>
              </a:ext>
            </a:extLst>
          </p:cNvPr>
          <p:cNvSpPr/>
          <p:nvPr/>
        </p:nvSpPr>
        <p:spPr>
          <a:xfrm>
            <a:off x="5856941" y="1501648"/>
            <a:ext cx="292129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CREATE TABLE grades (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id SERIAL PRIMARY KEY,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 err="1">
                <a:solidFill>
                  <a:schemeClr val="bg1"/>
                </a:solidFill>
              </a:rPr>
              <a:t>student_id</a:t>
            </a:r>
            <a:r>
              <a:rPr lang="en-US" sz="1000" dirty="0">
                <a:solidFill>
                  <a:schemeClr val="bg1"/>
                </a:solidFill>
              </a:rPr>
              <a:t> INTEGER REFERENCES students(id) ON DELETE CASCADE,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subject VARCHAR(100) NOT NULL,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grade INTEGER CHECK (grade &gt;= 2 AND grade &lt;= 5),</a:t>
            </a:r>
            <a:endParaRPr lang="ru-RU" sz="1000" dirty="0">
              <a:solidFill>
                <a:schemeClr val="bg1"/>
              </a:solidFill>
            </a:endParaRPr>
          </a:p>
          <a:p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date </a:t>
            </a:r>
            <a:r>
              <a:rPr lang="en-US" sz="1000" dirty="0" err="1">
                <a:solidFill>
                  <a:schemeClr val="bg1"/>
                </a:solidFill>
              </a:rPr>
              <a:t>DATE</a:t>
            </a:r>
            <a:r>
              <a:rPr lang="en-US" sz="1000" dirty="0">
                <a:solidFill>
                  <a:schemeClr val="bg1"/>
                </a:solidFill>
              </a:rPr>
              <a:t> DEFAULT CURRENT_DATE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);</a:t>
            </a:r>
            <a:endParaRPr lang="ru-RU" sz="1000" dirty="0">
              <a:solidFill>
                <a:schemeClr val="bg1"/>
              </a:solidFill>
            </a:endParaRPr>
          </a:p>
          <a:p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Особенности реализации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78992"/>
            <a:ext cx="4206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78992"/>
            <a:ext cx="73152" cy="16916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1704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</a:rPr>
              <a:t>🔑  Аутентификация администратора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" y="153619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Секретный ключ хранится в файле .env и считывается при старте программы. Пользователь вводит ключ в консоли — если он совпадает с хранимым значением, предоставляется доступ. Файл .env добавлен в .gitignore.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78992"/>
            <a:ext cx="4206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78992"/>
            <a:ext cx="73152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1704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📡  Подключение к PostgreSQL (libpqxx)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153619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Объект pqxx::connection создаётся один раз в конструкторе Database и переиспользуется. Транзакции для записи используют pqxx::work, для чтения — pqxx::nontransaction.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53512"/>
            <a:ext cx="4206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953512"/>
            <a:ext cx="73152" cy="1691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044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Формирование SQL-запросов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8912" y="341071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В текущей реализации запросы собираются конкатенацией строк (упрощение для учебного проекта). В production-коде необходимо использовать параметризованные запросы pqxx::params для защиты от SQL-инъекций.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953512"/>
            <a:ext cx="4206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953512"/>
            <a:ext cx="73152" cy="16916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3044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</a:rPr>
              <a:t>📁  Структура файлов проекта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19472" y="341071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main.cpp — точка входа, выбор режима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1E293B"/>
                </a:solidFill>
              </a:rPr>
              <a:t>database.h</a:t>
            </a:r>
            <a:r>
              <a:rPr lang="en-US" sz="1100" dirty="0">
                <a:solidFill>
                  <a:srgbClr val="1E293B"/>
                </a:solidFill>
              </a:rPr>
              <a:t>— класс Database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student.cpp — класс StudentMode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prepod.cpp — класс PrepodMode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admin.cpp — класс AdminMode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2743200" cy="27432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Заключение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41148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EAD4"/>
                </a:solidFill>
              </a:rPr>
              <a:t>✅  Реализовано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Три режима: студент, преподаватель, администратор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81051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Авторизация пользователей по логину/паролю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Подключение к PostgreSQL через libpqxx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688336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Вывод оценок в табличном виде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12724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Аутентификация администратора через .env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5661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Базовая обработка ошибок ввода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9601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CD34D"/>
                </a:solidFill>
              </a:rPr>
              <a:t>🔧  Можно улучшить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46320" y="13716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Параметризованные SQL-запросы (защита от инъекций)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810512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Хеширование паролей (bcrypt / SHA-256)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249424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Миграции базы данных (Flyway / ручные скрипты)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688336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Графический интерфейс (Qt / веб-фронтенд)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3127248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</a:rPr>
              <a:t>Логирование действий пользователей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Спасибо за внимание! Готов ответить на вопросы.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656</Words>
  <Application>Microsoft Office PowerPoint</Application>
  <PresentationFormat>Экран (16:9)</PresentationFormat>
  <Paragraphs>113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учёта успеваемости студентов</dc:title>
  <dc:subject>PptxGenJS Presentation</dc:subject>
  <dc:creator>PptxGenJS</dc:creator>
  <cp:lastModifiedBy>лев тузов</cp:lastModifiedBy>
  <cp:revision>5</cp:revision>
  <dcterms:created xsi:type="dcterms:W3CDTF">2026-05-19T11:31:52Z</dcterms:created>
  <dcterms:modified xsi:type="dcterms:W3CDTF">2026-05-22T15:14:26Z</dcterms:modified>
</cp:coreProperties>
</file>